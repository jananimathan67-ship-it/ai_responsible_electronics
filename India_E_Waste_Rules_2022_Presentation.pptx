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656832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6583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0F2D4E"/>
                </a:solidFill>
                <a:latin typeface="Aptos Display"/>
              </a:defRPr>
            </a:pPr>
            <a:r>
              <a:t>INDIA’S E-WASTE</a:t>
            </a:r>
            <a:br/>
            <a:r>
              <a:t>(MANAGEMENT) RULES, 2022</a:t>
            </a:r>
          </a:p>
          <a:p>
            <a:pPr>
              <a:spcBef>
                <a:spcPts val="1600"/>
              </a:spcBef>
              <a:defRPr sz="1900" b="1">
                <a:solidFill>
                  <a:srgbClr val="14704B"/>
                </a:solidFill>
              </a:defRPr>
            </a:pPr>
            <a:r>
              <a:t>Responsible Electronics for a Cleaner, Safer Future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097280"/>
            <a:ext cx="3566160" cy="132588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73568" y="1261872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EPR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Extended Producer Responsibility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697480"/>
            <a:ext cx="3566160" cy="132588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2862072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SAFE HANDLING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Collection • Storage • Recycling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297680"/>
            <a:ext cx="3566160" cy="1325880"/>
          </a:xfrm>
          <a:prstGeom prst="roundRect">
            <a:avLst/>
          </a:prstGeom>
          <a:solidFill>
            <a:srgbClr val="FA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4462272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AI OPPORTUNITIES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Sorting • Monitoring • Predictive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6126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A76"/>
                </a:solidFill>
              </a:defRPr>
            </a:pPr>
            <a:r>
              <a:t>Project: AI Responsible Electronics — Standards, Safety &amp; E-Waste Research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1. What Is E-Waste?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Discarded electrical and electronic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Examples include computers, mobile phones, televisions, and other electronic devices.</a:t>
            </a:r>
          </a:p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Rapid technology use can increase the volume of discarded electronics.</a:t>
            </a:r>
          </a:p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Improper disposal can harm the environment and human health.</a:t>
            </a:r>
          </a:p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Responsible collection and recycling help recover useful materials and reduce risks.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2. About the 2022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India’s framework for environmentally sound e-waste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1051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NOTIFIED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2 November 2022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81051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IN FORCE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1 April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A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81051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MAIN FOCUS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Safe management and recycling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443"/>
                </a:solidFill>
                <a:latin typeface="Aptos"/>
              </a:defRPr>
            </a:pPr>
            <a:r>
              <a:t>Issued by the Ministry of Environment, Forest and Climate Change (MoEFCC).</a:t>
            </a:r>
          </a:p>
          <a:p>
            <a:pPr>
              <a:spcAft>
                <a:spcPts val="1300"/>
              </a:spcAft>
              <a:defRPr sz="1800">
                <a:solidFill>
                  <a:srgbClr val="243443"/>
                </a:solidFill>
                <a:latin typeface="Aptos"/>
              </a:defRPr>
            </a:pPr>
            <a:r>
              <a:t>The rules define responsibilities and compliance processes for relevant stakeholders.</a:t>
            </a:r>
          </a:p>
          <a:p>
            <a:pPr>
              <a:spcAft>
                <a:spcPts val="1300"/>
              </a:spcAft>
              <a:defRPr sz="1800">
                <a:solidFill>
                  <a:srgbClr val="243443"/>
                </a:solidFill>
                <a:latin typeface="Aptos"/>
              </a:defRPr>
            </a:pPr>
            <a:r>
              <a:t>Coverage depends on the equipment listed in Schedule I and the stated exclusions.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3. Key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Why e-waste management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383280" cy="228600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93392"/>
            <a:ext cx="2980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Protect health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Reduce risks from unsafe handling and disposal.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383280" cy="228600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93392"/>
            <a:ext cx="2980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Improve recycling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Support collection and environmentally sound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28800"/>
            <a:ext cx="3383280" cy="2286000"/>
          </a:xfrm>
          <a:prstGeom prst="roundRect">
            <a:avLst/>
          </a:prstGeom>
          <a:solidFill>
            <a:srgbClr val="FA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993392"/>
            <a:ext cx="2980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Promote accountability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Use registration, reporting and EPR obligations.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443"/>
                </a:solidFill>
                <a:latin typeface="Aptos"/>
              </a:defRPr>
            </a:pPr>
            <a:r>
              <a:t>Encourage responsible decisions across the electronics lifecycle—from production to end-of-life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4. Extended Producer Responsibility (EPR)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A central feature of 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Producers of covered equipment must register through the designated online system.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Producers must meet the recycling obligations and targets applicable to them.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Registered recyclers process e-waste and generate EPR certificates under the framework.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EPR links producers’ responsibilities to the e-waste associated with their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4800600"/>
            <a:ext cx="3657600" cy="1051560"/>
          </a:xfrm>
          <a:prstGeom prst="roundRect">
            <a:avLst/>
          </a:prstGeom>
          <a:solidFill>
            <a:srgbClr val="FA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90688" y="4965192"/>
            <a:ext cx="32552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Remember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Targets and calculations can vary by year, category and applicable amendments.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5. Who Is Responsible?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Roles differ by stakeholder and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468880" cy="713232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73351"/>
            <a:ext cx="20665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Manufacturers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520440" y="1572768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43443"/>
                </a:solidFill>
              </a:defRPr>
            </a:pPr>
            <a:r>
              <a:t>Manage e-waste generated during manufacturing.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2468880" cy="713232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87752"/>
            <a:ext cx="20665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Producers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520440" y="2487168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43443"/>
                </a:solidFill>
              </a:defRPr>
            </a:pPr>
            <a:r>
              <a:t>Register and meet applicable EPR obligations.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2468880" cy="713232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502152"/>
            <a:ext cx="20665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Refurbishers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520440" y="3401568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43443"/>
                </a:solidFill>
              </a:defRPr>
            </a:pPr>
            <a:r>
              <a:t>Follow registration/reporting rules; channel waste to registered recyclers as applicable.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2468880" cy="713232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416552"/>
            <a:ext cx="20665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Recyclers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20440" y="4315968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43443"/>
                </a:solidFill>
              </a:defRPr>
            </a:pPr>
            <a:r>
              <a:t>Follow standards and maintain records and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66360"/>
            <a:ext cx="2468880" cy="713232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330952"/>
            <a:ext cx="20665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Bulk consumers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20440" y="5230368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43443"/>
                </a:solidFill>
              </a:defRPr>
            </a:pPr>
            <a:r>
              <a:t>Hand e-waste to appropriate registered entities.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6. Safe Storage and Hazardous Substances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Follow the applicable legal and safety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219456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10512"/>
            <a:ext cx="471830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Storage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Under the original 2022 rules, e-waste generally may be stored for up to 180 days; extensions to 365 days are allowed in specified circumstances.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810512"/>
            <a:ext cx="471830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Hazardous substances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The rules restrict certain hazardous substances in specified equipment. Exact substance limits and applicability should be checked in the official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43443"/>
                </a:solidFill>
                <a:latin typeface="Aptos"/>
              </a:defRPr>
            </a:pPr>
            <a:r>
              <a:t>Use authorized collection and recycling channels.</a:t>
            </a:r>
          </a:p>
          <a:p>
            <a:pPr>
              <a:spcAft>
                <a:spcPts val="1300"/>
              </a:spcAft>
              <a:defRPr sz="1900">
                <a:solidFill>
                  <a:srgbClr val="243443"/>
                </a:solidFill>
                <a:latin typeface="Aptos"/>
              </a:defRPr>
            </a:pPr>
            <a:r>
              <a:t>Do not treat the original 2022 text as the only source: subsequent amendments may affect current requirements.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7. Special Provisions for Solar PV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Solar modules, panels and cells have specific provisions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The rules address waste from solar photovoltaic modules, panels and cells separately.</a:t>
            </a:r>
          </a:p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Special storage and management provisions extend to financial year 2034–35.</a:t>
            </a:r>
          </a:p>
          <a:p>
            <a:pPr>
              <a:spcAft>
                <a:spcPts val="1300"/>
              </a:spcAft>
              <a:defRPr sz="2200">
                <a:solidFill>
                  <a:srgbClr val="243443"/>
                </a:solidFill>
                <a:latin typeface="Aptos"/>
              </a:defRPr>
            </a:pPr>
            <a:r>
              <a:t>Do not automatically apply general e-waste targets to solar PV waste; check the relevant schedule and current amendments.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4709160"/>
            <a:ext cx="3474720" cy="1051560"/>
          </a:xfrm>
          <a:prstGeom prst="roundRect">
            <a:avLst/>
          </a:prstGeom>
          <a:solidFill>
            <a:srgbClr val="FA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73568" y="4873752"/>
            <a:ext cx="307238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Key message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Different e-waste streams can have different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8. Role of Government Authorities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Monitoring, guidance and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210312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56232"/>
            <a:ext cx="471830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CPCB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Provides guidance and supports the online e-waste management system and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120640" cy="210312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856232"/>
            <a:ext cx="4718303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State Boards / Committees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State Pollution Control Boards and Pollution Control Committees support oversight and compliance within their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43443"/>
                </a:solidFill>
                <a:latin typeface="Aptos"/>
              </a:defRPr>
            </a:pPr>
            <a:r>
              <a:t>Registration and reporting requirements depend on the stakeholder’s role.</a:t>
            </a:r>
          </a:p>
          <a:p>
            <a:pPr>
              <a:spcAft>
                <a:spcPts val="1300"/>
              </a:spcAft>
              <a:defRPr sz="1900">
                <a:solidFill>
                  <a:srgbClr val="243443"/>
                </a:solidFill>
                <a:latin typeface="Aptos"/>
              </a:defRPr>
            </a:pPr>
            <a:r>
              <a:t>Consult official notifications and amendments for the requirements currently in force.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9. How AI Can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Possible applications—not specific legal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137160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4809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Identify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Image recognition can help classify discarded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600200"/>
            <a:ext cx="5212080" cy="137160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7688" y="1764792"/>
            <a:ext cx="4809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Sort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AI-assisted systems may improve component sorting.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12080" cy="137160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593592"/>
            <a:ext cx="4809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Monitor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Data analysis can track volumes and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429000"/>
            <a:ext cx="5212080" cy="137160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593592"/>
            <a:ext cx="4809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Maintain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Predictive maintenance may extend device life.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3"/>
                </a:solidFill>
                <a:latin typeface="Aptos"/>
              </a:defRPr>
            </a:pPr>
            <a:r>
              <a:t>AI should complement safe work practices and compliance—not replace environmental regulations or responsible recycling.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10. Challenges and Practical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A shared responsibility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212080" cy="3383280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64792"/>
            <a:ext cx="480974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Challenges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• Limited public awareness</a:t>
            </a:r>
            <a:br/>
            <a:r>
              <a:t>• Improper disposal</a:t>
            </a:r>
            <a:br/>
            <a:r>
              <a:t>• Collection and recycling difficulties</a:t>
            </a:r>
            <a:br/>
            <a:r>
              <a:t>• Need for suitable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338328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764792"/>
            <a:ext cx="480974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Solutions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• Public education and accessible collection</a:t>
            </a:r>
            <a:br/>
            <a:r>
              <a:t>• Responsible product design</a:t>
            </a:r>
            <a:br/>
            <a:r>
              <a:t>• Authorized recycling channels</a:t>
            </a:r>
            <a:br/>
            <a:r>
              <a:t>• Strong implementation and cooperation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43443"/>
                </a:solidFill>
                <a:latin typeface="Aptos"/>
              </a:defRPr>
            </a:pPr>
            <a:r>
              <a:t>Consumers, producers, recyclers, government and technology developers all have a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Responsible electronics today for a greener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The 2022 Rules provide a framework for managing covered e-waste responsibly.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EPR, registration, recycling obligations and environmental safeguards are key elements.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AI can support identification, sorting and monitoring when used responsibly.</a:t>
            </a:r>
          </a:p>
          <a:p>
            <a:pPr>
              <a:spcAft>
                <a:spcPts val="1300"/>
              </a:spcAft>
              <a:defRPr sz="2100">
                <a:solidFill>
                  <a:srgbClr val="243443"/>
                </a:solidFill>
                <a:latin typeface="Aptos"/>
              </a:defRPr>
            </a:pPr>
            <a:r>
              <a:t>Effective e-waste management requires awareness, safe practices and cooperation.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74920"/>
            <a:ext cx="10241280" cy="822960"/>
          </a:xfrm>
          <a:prstGeom prst="roundRect">
            <a:avLst/>
          </a:prstGeom>
          <a:solidFill>
            <a:srgbClr val="E1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5239512"/>
            <a:ext cx="9838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704B"/>
                </a:solidFill>
                <a:latin typeface="Aptos Display"/>
              </a:defRPr>
            </a:pPr>
            <a:r>
              <a:t>Key takeaway</a:t>
            </a:r>
          </a:p>
          <a:p>
            <a:pPr>
              <a:defRPr sz="1300">
                <a:solidFill>
                  <a:srgbClr val="243443"/>
                </a:solidFill>
                <a:latin typeface="Aptos"/>
              </a:defRPr>
            </a:pPr>
            <a:r>
              <a:t>Reduce waste where possible. Use appropriate collection routes. Support safe, authorized recycling.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D4E"/>
                </a:solidFill>
                <a:latin typeface="Aptos Display"/>
              </a:defRPr>
            </a:pPr>
            <a:r>
              <a:t>Official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704B"/>
                </a:solidFill>
                <a:latin typeface="Aptos"/>
              </a:defRPr>
            </a:pPr>
            <a:r>
              <a:t>Use official sources to verify current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704B"/>
                </a:solidFill>
              </a:defRPr>
            </a:pPr>
            <a:r>
              <a:t>MoEFCC — Rules and Regulations</a:t>
            </a:r>
          </a:p>
          <a:p>
            <a:pPr>
              <a:defRPr sz="1300">
                <a:solidFill>
                  <a:srgbClr val="0F2D4E"/>
                </a:solidFill>
              </a:defRPr>
            </a:pPr>
            <a:r>
              <a:t>https://moef.gov.in/rules-regulations-3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704B"/>
                </a:solidFill>
              </a:defRPr>
            </a:pPr>
            <a:r>
              <a:t>CPCB — E-Waste Management</a:t>
            </a:r>
          </a:p>
          <a:p>
            <a:pPr>
              <a:defRPr sz="1300">
                <a:solidFill>
                  <a:srgbClr val="0F2D4E"/>
                </a:solidFill>
              </a:defRPr>
            </a:pPr>
            <a:r>
              <a:t>https://cpcb.nic.in/e-waste/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79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704B"/>
                </a:solidFill>
              </a:defRPr>
            </a:pPr>
            <a:r>
              <a:t>CPCB — E-Waste FAQs</a:t>
            </a:r>
          </a:p>
          <a:p>
            <a:pPr>
              <a:defRPr sz="1300">
                <a:solidFill>
                  <a:srgbClr val="0F2D4E"/>
                </a:solidFill>
              </a:defRPr>
            </a:pPr>
            <a:r>
              <a:t>https://cpcb.nic.in/uploads/Projects/E-Waste/FAQ_ewaste_23012024.pdf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704B"/>
                </a:solidFill>
              </a:defRPr>
            </a:pPr>
            <a:r>
              <a:t>CPCB — E-Waste Portal</a:t>
            </a:r>
          </a:p>
          <a:p>
            <a:pPr>
              <a:defRPr sz="1300">
                <a:solidFill>
                  <a:srgbClr val="0F2D4E"/>
                </a:solidFill>
              </a:defRPr>
            </a:pPr>
            <a:r>
              <a:t>https://eprewastecpcb.in/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5C6A76"/>
                </a:solidFill>
                <a:latin typeface="Aptos"/>
              </a:defRPr>
            </a:pPr>
            <a:r>
              <a:t>Note: This presentation summarizes key points and is educational, not legal advice. Check amendments for current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AI Responsible Electronics • Standards, Safety &amp; E-Waste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