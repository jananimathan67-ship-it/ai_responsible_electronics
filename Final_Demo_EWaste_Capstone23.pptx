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presentationml.viewProps+xml" PartName="/ppt/viewProps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1675"/>
  <p:notesSz cx="6858000" cy="9144000"/>
  <p:defaultTextStyle>
    <a:defPPr lvl="0">
      <a:defRPr lang="en-US"/>
    </a:defPPr>
    <a:lvl1pPr defTabSz="4572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4572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4572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4572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4572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4572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4572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4572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4572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32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t>AI RESPONSIBLE ELECTRONICS</a:t>
            </a:r>
          </a:p>
          <a:p>
            <a:pPr>
              <a:spcBef>
                <a:spcPts val="800"/>
              </a:spcBef>
              <a:defRPr sz="2500">
                <a:solidFill>
                  <a:srgbClr val="BEDCF0"/>
                </a:solidFill>
                <a:latin typeface="Aptos Display"/>
              </a:defRPr>
            </a:pPr>
            <a:r>
              <a:t>Standards, Safety &amp; E-Waste Research</a:t>
            </a:r>
          </a:p>
          <a:p>
            <a:pPr>
              <a:spcBef>
                <a:spcPts val="2000"/>
              </a:spcBef>
              <a:defRPr sz="1600">
                <a:solidFill>
                  <a:srgbClr val="FFFFFF"/>
                </a:solidFill>
                <a:latin typeface="Aptos"/>
              </a:defRPr>
            </a:pPr>
            <a:r>
              <a:t>Final Demo  |  India’s E-Waste (Management) Rules, 2022</a:t>
            </a:r>
          </a:p>
        </p:txBody>
      </p:sp>
      <p:sp>
        <p:nvSpPr>
          <p:cNvPr id="4" name="Oval 3"/>
          <p:cNvSpPr/>
          <p:nvPr/>
        </p:nvSpPr>
        <p:spPr>
          <a:xfrm>
            <a:off x="8229600" y="1143000"/>
            <a:ext cx="1097280" cy="1097280"/>
          </a:xfrm>
          <a:prstGeom prst="ellipse">
            <a:avLst/>
          </a:prstGeom>
          <a:solidFill>
            <a:srgbClr val="2D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326880" y="2286000"/>
            <a:ext cx="777240" cy="777240"/>
          </a:xfrm>
          <a:prstGeom prst="ellipse">
            <a:avLst/>
          </a:prstGeom>
          <a:solidFill>
            <a:srgbClr val="367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98079" y="2743200"/>
            <a:ext cx="594360" cy="594360"/>
          </a:xfrm>
          <a:prstGeom prst="ellipse">
            <a:avLst/>
          </a:prstGeom>
          <a:solidFill>
            <a:srgbClr val="5F9BC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43800" y="3840480"/>
            <a:ext cx="35661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Aptos"/>
              </a:defRPr>
            </a:pPr>
            <a:r>
              <a:t>RESEARCH  →  VERIFY  →  INFORM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8"/>
                </a:solidFill>
                <a:latin typeface="Aptos"/>
              </a:defRPr>
            </a:pPr>
            <a:r>
              <a:t>CAPSTONE 23  •  AI RESPONSIBLE ELECTRONICS  •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3254"/>
                </a:solidFill>
                <a:latin typeface="Aptos Display"/>
              </a:defRPr>
            </a:pPr>
            <a:r>
              <a:t>1. Project Goal &amp; Research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8"/>
                </a:solidFill>
                <a:latin typeface="Aptos"/>
              </a:defRPr>
            </a:pPr>
            <a:r>
              <a:t>What did this project aim to find out?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243584"/>
            <a:ext cx="1051560" cy="54864"/>
          </a:xfrm>
          <a:prstGeom prst="rect">
            <a:avLst/>
          </a:prstGeom>
          <a:solidFill>
            <a:srgbClr val="2D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607040" cy="448056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A3038"/>
                </a:solidFill>
                <a:latin typeface="Aptos"/>
              </a:defRPr>
            </a:pPr>
            <a:r>
              <a:t>Explain the purpose and scope of India’s E-Waste (Management) Rules, 2022.</a:t>
            </a:r>
          </a:p>
          <a:p>
            <a:pPr>
              <a:spcAft>
                <a:spcPts val="1300"/>
              </a:spcAft>
              <a:defRPr sz="2000">
                <a:solidFill>
                  <a:srgbClr val="2A3038"/>
                </a:solidFill>
                <a:latin typeface="Aptos"/>
              </a:defRPr>
            </a:pPr>
            <a:r>
              <a:t>Identify key responsibilities, including Extended Producer Responsibility (EPR).</a:t>
            </a:r>
          </a:p>
          <a:p>
            <a:pPr>
              <a:spcAft>
                <a:spcPts val="1300"/>
              </a:spcAft>
              <a:defRPr sz="2000">
                <a:solidFill>
                  <a:srgbClr val="2A3038"/>
                </a:solidFill>
                <a:latin typeface="Aptos"/>
              </a:defRPr>
            </a:pPr>
            <a:r>
              <a:t>Check AI-generated claims against official government sources.</a:t>
            </a:r>
          </a:p>
          <a:p>
            <a:pPr>
              <a:spcAft>
                <a:spcPts val="1300"/>
              </a:spcAft>
              <a:defRPr sz="2000">
                <a:solidFill>
                  <a:srgbClr val="2A3038"/>
                </a:solidFill>
                <a:latin typeface="Aptos"/>
              </a:defRPr>
            </a:pPr>
            <a:r>
              <a:t>Turn verified findings into clear public-awareness materials.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8"/>
                </a:solidFill>
                <a:latin typeface="Aptos"/>
              </a:defRPr>
            </a:pPr>
            <a:r>
              <a:t>CAPSTONE 23  •  AI RESPONSIBLE ELECTRONICS  •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3254"/>
                </a:solidFill>
                <a:latin typeface="Aptos Display"/>
              </a:defRPr>
            </a:pPr>
            <a:r>
              <a:t>2. Research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8"/>
                </a:solidFill>
                <a:latin typeface="Aptos"/>
              </a:defRPr>
            </a:pPr>
            <a:r>
              <a:t>AI supports research; official sources support verification.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243584"/>
            <a:ext cx="1051560" cy="54864"/>
          </a:xfrm>
          <a:prstGeom prst="rect">
            <a:avLst/>
          </a:prstGeom>
          <a:solidFill>
            <a:srgbClr val="2D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607040" cy="448056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A3038"/>
                </a:solidFill>
                <a:latin typeface="Aptos"/>
              </a:defRPr>
            </a:pPr>
            <a:r>
              <a:t>Step 1 — Ask AI to summarize the rules and suggest research questions.</a:t>
            </a:r>
          </a:p>
          <a:p>
            <a:pPr>
              <a:spcAft>
                <a:spcPts val="1300"/>
              </a:spcAft>
              <a:defRPr sz="1800">
                <a:solidFill>
                  <a:srgbClr val="2A3038"/>
                </a:solidFill>
                <a:latin typeface="Aptos"/>
              </a:defRPr>
            </a:pPr>
            <a:r>
              <a:t>Step 2 — Check key claims against MoEFCC and CPCB material.</a:t>
            </a:r>
          </a:p>
          <a:p>
            <a:pPr>
              <a:spcAft>
                <a:spcPts val="1300"/>
              </a:spcAft>
              <a:defRPr sz="1800">
                <a:solidFill>
                  <a:srgbClr val="2A3038"/>
                </a:solidFill>
                <a:latin typeface="Aptos"/>
              </a:defRPr>
            </a:pPr>
            <a:r>
              <a:t>Step 3 — Record each claim, source URL, verdict, and corrected wording.</a:t>
            </a:r>
          </a:p>
          <a:p>
            <a:pPr>
              <a:spcAft>
                <a:spcPts val="1300"/>
              </a:spcAft>
              <a:defRPr sz="1800">
                <a:solidFill>
                  <a:srgbClr val="2A3038"/>
                </a:solidFill>
                <a:latin typeface="Aptos"/>
              </a:defRPr>
            </a:pPr>
            <a:r>
              <a:t>Step 4 — Revise broad or misleading statements and prepare awareness content.</a:t>
            </a:r>
          </a:p>
          <a:p>
            <a:pPr>
              <a:spcAft>
                <a:spcPts val="1300"/>
              </a:spcAft>
              <a:defRPr sz="1800">
                <a:solidFill>
                  <a:srgbClr val="2A3038"/>
                </a:solidFill>
                <a:latin typeface="Aptos"/>
              </a:defRPr>
            </a:pPr>
            <a:r>
              <a:t>Evidence note: a second-AI comparison must only be reported as completed if its output was actually saved and reviewed.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8"/>
                </a:solidFill>
                <a:latin typeface="Aptos"/>
              </a:defRPr>
            </a:pPr>
            <a:r>
              <a:t>CAPSTONE 23  •  AI RESPONSIBLE ELECTRONICS  •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3254"/>
                </a:solidFill>
                <a:latin typeface="Aptos Display"/>
              </a:defRPr>
            </a:pPr>
            <a:r>
              <a:t>3. Key Verification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8"/>
                </a:solidFill>
                <a:latin typeface="Aptos"/>
              </a:defRPr>
            </a:pPr>
            <a:r>
              <a:t>Examples of why source-checking matters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243584"/>
            <a:ext cx="1051560" cy="54864"/>
          </a:xfrm>
          <a:prstGeom prst="rect">
            <a:avLst/>
          </a:prstGeom>
          <a:solidFill>
            <a:srgbClr val="2D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607040" cy="448056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2A3038"/>
                </a:solidFill>
                <a:latin typeface="Aptos"/>
              </a:defRPr>
            </a:pPr>
            <a:r>
              <a:t>The rules came into force on 1 April 2023.</a:t>
            </a:r>
          </a:p>
          <a:p>
            <a:pPr>
              <a:spcAft>
                <a:spcPts val="1300"/>
              </a:spcAft>
              <a:defRPr sz="1700">
                <a:solidFill>
                  <a:srgbClr val="2A3038"/>
                </a:solidFill>
                <a:latin typeface="Aptos"/>
              </a:defRPr>
            </a:pPr>
            <a:r>
              <a:t>EPR applies to producers of covered electrical and electronic equipment within the rules’ scope.</a:t>
            </a:r>
          </a:p>
          <a:p>
            <a:pPr>
              <a:spcAft>
                <a:spcPts val="1300"/>
              </a:spcAft>
              <a:defRPr sz="1700">
                <a:solidFill>
                  <a:srgbClr val="2A3038"/>
                </a:solidFill>
                <a:latin typeface="Aptos"/>
              </a:defRPr>
            </a:pPr>
            <a:r>
              <a:t>Waste batteries are addressed under separate Battery Waste Management Rules, 2022.</a:t>
            </a:r>
          </a:p>
          <a:p>
            <a:pPr>
              <a:spcAft>
                <a:spcPts val="1300"/>
              </a:spcAft>
              <a:defRPr sz="1700">
                <a:solidFill>
                  <a:srgbClr val="2A3038"/>
                </a:solidFill>
                <a:latin typeface="Aptos"/>
              </a:defRPr>
            </a:pPr>
            <a:r>
              <a:t>Not every item described casually as “electronic waste” is automatically covered; check the schedules and current amendments.</a:t>
            </a:r>
          </a:p>
          <a:p>
            <a:pPr>
              <a:spcAft>
                <a:spcPts val="1300"/>
              </a:spcAft>
              <a:defRPr sz="1700">
                <a:solidFill>
                  <a:srgbClr val="2A3038"/>
                </a:solidFill>
                <a:latin typeface="Aptos"/>
              </a:defRPr>
            </a:pPr>
            <a:r>
              <a:t>The rules have later amendments, so current official documents must be checked.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8"/>
                </a:solidFill>
                <a:latin typeface="Aptos"/>
              </a:defRPr>
            </a:pPr>
            <a:r>
              <a:t>CAPSTONE 23  •  AI RESPONSIBLE ELECTRONICS  •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3254"/>
                </a:solidFill>
                <a:latin typeface="Aptos Display"/>
              </a:defRPr>
            </a:pPr>
            <a:r>
              <a:t>4. Before vs After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8"/>
                </a:solidFill>
                <a:latin typeface="Aptos"/>
              </a:defRPr>
            </a:pPr>
            <a:r>
              <a:t>How verification improved the 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243584"/>
            <a:ext cx="1051560" cy="54864"/>
          </a:xfrm>
          <a:prstGeom prst="rect">
            <a:avLst/>
          </a:prstGeom>
          <a:solidFill>
            <a:srgbClr val="2D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074920" cy="4251960"/>
          </a:xfrm>
          <a:prstGeom prst="roundRect">
            <a:avLst/>
          </a:prstGeom>
          <a:solidFill>
            <a:srgbClr val="FAF4E8"/>
          </a:solidFill>
          <a:ln>
            <a:solidFill>
              <a:srgbClr val="B97D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783080"/>
            <a:ext cx="4526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B97D26"/>
                </a:solidFill>
              </a:defRPr>
            </a:pPr>
            <a:r>
              <a:t>BEFORE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77440"/>
            <a:ext cx="44805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>
                <a:solidFill>
                  <a:srgbClr val="2A3038"/>
                </a:solidFill>
              </a:defRPr>
            </a:pPr>
            <a:r>
              <a:t>General understanding of e-waste</a:t>
            </a:r>
          </a:p>
          <a:p>
            <a:pPr>
              <a:spcAft>
                <a:spcPts val="1600"/>
              </a:spcAft>
              <a:defRPr sz="1600">
                <a:solidFill>
                  <a:srgbClr val="2A3038"/>
                </a:solidFill>
              </a:defRPr>
            </a:pPr>
            <a:r>
              <a:t>AI summaries not yet checked</a:t>
            </a:r>
          </a:p>
          <a:p>
            <a:pPr>
              <a:spcAft>
                <a:spcPts val="1600"/>
              </a:spcAft>
              <a:defRPr sz="1600">
                <a:solidFill>
                  <a:srgbClr val="2A3038"/>
                </a:solidFill>
              </a:defRPr>
            </a:pPr>
            <a:r>
              <a:t>Broad claims and missing references</a:t>
            </a:r>
          </a:p>
          <a:p>
            <a:pPr>
              <a:spcAft>
                <a:spcPts val="1600"/>
              </a:spcAft>
              <a:defRPr sz="1600">
                <a:solidFill>
                  <a:srgbClr val="2A3038"/>
                </a:solidFill>
              </a:defRPr>
            </a:pPr>
            <a:r>
              <a:t>No consistent claim-tracking process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074920" cy="4251960"/>
          </a:xfrm>
          <a:prstGeom prst="roundRect">
            <a:avLst/>
          </a:prstGeom>
          <a:solidFill>
            <a:srgbClr val="EBF3F9"/>
          </a:solidFill>
          <a:ln>
            <a:solidFill>
              <a:srgbClr val="367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1783080"/>
            <a:ext cx="4526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67D57"/>
                </a:solidFill>
              </a:defRPr>
            </a:pPr>
            <a:r>
              <a:t>AFTER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377440"/>
            <a:ext cx="44805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600">
                <a:solidFill>
                  <a:srgbClr val="2A3038"/>
                </a:solidFill>
              </a:defRPr>
            </a:pPr>
            <a:r>
              <a:t>Clearer understanding of rules and EPR</a:t>
            </a:r>
          </a:p>
          <a:p>
            <a:pPr>
              <a:spcAft>
                <a:spcPts val="1600"/>
              </a:spcAft>
              <a:defRPr sz="1600">
                <a:solidFill>
                  <a:srgbClr val="2A3038"/>
                </a:solidFill>
              </a:defRPr>
            </a:pPr>
            <a:r>
              <a:t>Key claims checked against MoEFCC/CPCB</a:t>
            </a:r>
          </a:p>
          <a:p>
            <a:pPr>
              <a:spcAft>
                <a:spcPts val="1600"/>
              </a:spcAft>
              <a:defRPr sz="1600">
                <a:solidFill>
                  <a:srgbClr val="2A3038"/>
                </a:solidFill>
              </a:defRPr>
            </a:pPr>
            <a:r>
              <a:t>Corrections and source links recorded</a:t>
            </a:r>
          </a:p>
          <a:p>
            <a:pPr>
              <a:spcAft>
                <a:spcPts val="1600"/>
              </a:spcAft>
              <a:defRPr sz="1600">
                <a:solidFill>
                  <a:srgbClr val="2A3038"/>
                </a:solidFill>
              </a:defRPr>
            </a:pPr>
            <a:r>
              <a:t>Verification table and tracking workbook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8"/>
                </a:solidFill>
                <a:latin typeface="Aptos"/>
              </a:defRPr>
            </a:pPr>
            <a:r>
              <a:t>CAPSTONE 23  •  AI RESPONSIBLE ELECTRONICS  •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3254"/>
                </a:solidFill>
                <a:latin typeface="Aptos Display"/>
              </a:defRPr>
            </a:pPr>
            <a:r>
              <a:t>5. Project Outputs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8"/>
                </a:solidFill>
                <a:latin typeface="Aptos"/>
              </a:defRPr>
            </a:pPr>
            <a:r>
              <a:t>What the capstone produced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243584"/>
            <a:ext cx="1051560" cy="54864"/>
          </a:xfrm>
          <a:prstGeom prst="rect">
            <a:avLst/>
          </a:prstGeom>
          <a:solidFill>
            <a:srgbClr val="2D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607040" cy="448056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2A3038"/>
                </a:solidFill>
                <a:latin typeface="Aptos"/>
              </a:defRPr>
            </a:pPr>
            <a:r>
              <a:t>Research summary and verification report.</a:t>
            </a:r>
          </a:p>
          <a:p>
            <a:pPr>
              <a:spcAft>
                <a:spcPts val="1300"/>
              </a:spcAft>
              <a:defRPr sz="1900">
                <a:solidFill>
                  <a:srgbClr val="2A3038"/>
                </a:solidFill>
                <a:latin typeface="Aptos"/>
              </a:defRPr>
            </a:pPr>
            <a:r>
              <a:t>Awareness article, poster text, and five social media posts.</a:t>
            </a:r>
          </a:p>
          <a:p>
            <a:pPr>
              <a:spcAft>
                <a:spcPts val="1300"/>
              </a:spcAft>
              <a:defRPr sz="1900">
                <a:solidFill>
                  <a:srgbClr val="2A3038"/>
                </a:solidFill>
                <a:latin typeface="Aptos"/>
              </a:defRPr>
            </a:pPr>
            <a:r>
              <a:t>Prompt library and prompt-execution documentation.</a:t>
            </a:r>
          </a:p>
          <a:p>
            <a:pPr>
              <a:spcAft>
                <a:spcPts val="1300"/>
              </a:spcAft>
              <a:defRPr sz="1900">
                <a:solidFill>
                  <a:srgbClr val="2A3038"/>
                </a:solidFill>
                <a:latin typeface="Aptos"/>
              </a:defRPr>
            </a:pPr>
            <a:r>
              <a:t>Spreadsheet-based source-verification tracker.</a:t>
            </a:r>
          </a:p>
          <a:p>
            <a:pPr>
              <a:spcAft>
                <a:spcPts val="1300"/>
              </a:spcAft>
              <a:defRPr sz="1900">
                <a:solidFill>
                  <a:srgbClr val="2A3038"/>
                </a:solidFill>
                <a:latin typeface="Aptos"/>
              </a:defRPr>
            </a:pPr>
            <a:r>
              <a:t>Before-and-after analysis.</a:t>
            </a:r>
          </a:p>
          <a:p>
            <a:pPr>
              <a:spcAft>
                <a:spcPts val="1300"/>
              </a:spcAft>
              <a:defRPr sz="1900">
                <a:solidFill>
                  <a:srgbClr val="2A3038"/>
                </a:solidFill>
                <a:latin typeface="Aptos"/>
              </a:defRPr>
            </a:pPr>
            <a:r>
              <a:t>Presentation/demo materials.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8"/>
                </a:solidFill>
                <a:latin typeface="Aptos"/>
              </a:defRPr>
            </a:pPr>
            <a:r>
              <a:t>CAPSTONE 23  •  AI RESPONSIBLE ELECTRONICS  •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3254"/>
                </a:solidFill>
                <a:latin typeface="Aptos Display"/>
              </a:defRPr>
            </a:pPr>
            <a:r>
              <a:t>6. Automation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8"/>
                </a:solidFill>
                <a:latin typeface="Aptos"/>
              </a:defRPr>
            </a:pPr>
            <a:r>
              <a:t>A simple tracking workflow — not an automatic legal fact-checker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243584"/>
            <a:ext cx="1051560" cy="54864"/>
          </a:xfrm>
          <a:prstGeom prst="rect">
            <a:avLst/>
          </a:prstGeom>
          <a:solidFill>
            <a:srgbClr val="2D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607040" cy="448056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A3038"/>
                </a:solidFill>
                <a:latin typeface="Aptos"/>
              </a:defRPr>
            </a:pPr>
            <a:r>
              <a:t>Enter the claim and official source URL.</a:t>
            </a:r>
          </a:p>
          <a:p>
            <a:pPr>
              <a:spcAft>
                <a:spcPts val="1300"/>
              </a:spcAft>
              <a:defRPr sz="1800">
                <a:solidFill>
                  <a:srgbClr val="2A3038"/>
                </a:solidFill>
                <a:latin typeface="Aptos"/>
              </a:defRPr>
            </a:pPr>
            <a:r>
              <a:t>Record whether the source was checked and whether the claim is supported.</a:t>
            </a:r>
          </a:p>
          <a:p>
            <a:pPr>
              <a:spcAft>
                <a:spcPts val="1300"/>
              </a:spcAft>
              <a:defRPr sz="1800">
                <a:solidFill>
                  <a:srgbClr val="2A3038"/>
                </a:solidFill>
                <a:latin typeface="Aptos"/>
              </a:defRPr>
            </a:pPr>
            <a:r>
              <a:t>The spreadsheet formula assigns a status based on those inputs.</a:t>
            </a:r>
          </a:p>
          <a:p>
            <a:pPr>
              <a:spcAft>
                <a:spcPts val="1300"/>
              </a:spcAft>
              <a:defRPr sz="1800">
                <a:solidFill>
                  <a:srgbClr val="2A3038"/>
                </a:solidFill>
                <a:latin typeface="Aptos"/>
              </a:defRPr>
            </a:pPr>
            <a:r>
              <a:t>Human review is still required: the workbook does not open URLs or independently prove a claim.</a:t>
            </a:r>
          </a:p>
          <a:p>
            <a:pPr>
              <a:spcAft>
                <a:spcPts val="1300"/>
              </a:spcAft>
              <a:defRPr sz="1800">
                <a:solidFill>
                  <a:srgbClr val="2A3038"/>
                </a:solidFill>
                <a:latin typeface="Aptos"/>
              </a:defRPr>
            </a:pPr>
            <a:r>
              <a:t>Demo tip: show one supported claim and one claim marked for review.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8"/>
                </a:solidFill>
                <a:latin typeface="Aptos"/>
              </a:defRPr>
            </a:pPr>
            <a:r>
              <a:t>CAPSTONE 23  •  AI RESPONSIBLE ELECTRONICS  •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83254"/>
                </a:solidFill>
                <a:latin typeface="Aptos Display"/>
              </a:defRPr>
            </a:pPr>
            <a:r>
              <a:t>7. Limitations &amp; Responsible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68680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46E78"/>
                </a:solidFill>
                <a:latin typeface="Aptos"/>
              </a:defRPr>
            </a:pPr>
            <a:r>
              <a:t>Keep the evidence trail transparent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243584"/>
            <a:ext cx="1051560" cy="54864"/>
          </a:xfrm>
          <a:prstGeom prst="rect">
            <a:avLst/>
          </a:prstGeom>
          <a:solidFill>
            <a:srgbClr val="2D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607040" cy="4480560"/>
          </a:xfrm>
          <a:prstGeom prst="rect">
            <a:avLst/>
          </a:prstGeom>
          <a:noFill/>
        </p:spPr>
        <p:txBody>
          <a:bodyPr wrap="square" lIns="109728" rIns="109728" tIns="73152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2A3038"/>
                </a:solidFill>
                <a:latin typeface="Aptos"/>
              </a:defRPr>
            </a:pPr>
            <a:r>
              <a:t>AI can omit amendments, mix up rules, or make overgeneralized claims.</a:t>
            </a:r>
          </a:p>
          <a:p>
            <a:pPr>
              <a:spcAft>
                <a:spcPts val="1300"/>
              </a:spcAft>
              <a:defRPr sz="1700">
                <a:solidFill>
                  <a:srgbClr val="2A3038"/>
                </a:solidFill>
                <a:latin typeface="Aptos"/>
              </a:defRPr>
            </a:pPr>
            <a:r>
              <a:t>Official rules and regulator guidance can change; use the latest documents.</a:t>
            </a:r>
          </a:p>
          <a:p>
            <a:pPr>
              <a:spcAft>
                <a:spcPts val="1300"/>
              </a:spcAft>
              <a:defRPr sz="1700">
                <a:solidFill>
                  <a:srgbClr val="2A3038"/>
                </a:solidFill>
                <a:latin typeface="Aptos"/>
              </a:defRPr>
            </a:pPr>
            <a:r>
              <a:t>AI output is not legal advice.</a:t>
            </a:r>
          </a:p>
          <a:p>
            <a:pPr>
              <a:spcAft>
                <a:spcPts val="1300"/>
              </a:spcAft>
              <a:defRPr sz="1700">
                <a:solidFill>
                  <a:srgbClr val="2A3038"/>
                </a:solidFill>
                <a:latin typeface="Aptos"/>
              </a:defRPr>
            </a:pPr>
            <a:r>
              <a:t>A second-AI comparison is an evidence requirement: save the second tool’s actual answer before claiming it was completed.</a:t>
            </a:r>
          </a:p>
          <a:p>
            <a:pPr>
              <a:spcAft>
                <a:spcPts val="1300"/>
              </a:spcAft>
              <a:defRPr sz="1700">
                <a:solidFill>
                  <a:srgbClr val="2A3038"/>
                </a:solidFill>
                <a:latin typeface="Aptos"/>
              </a:defRPr>
            </a:pPr>
            <a:r>
              <a:t>The verification spreadsheet tracks human-entered review status; it does not independently validate URLs or legal accuracy.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8"/>
                </a:solidFill>
                <a:latin typeface="Aptos"/>
              </a:defRPr>
            </a:pPr>
            <a:r>
              <a:t>CAPSTONE 23  •  AI RESPONSIBLE ELECTRONICS  •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32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97280"/>
            <a:ext cx="105156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Aptos Display"/>
              </a:defRPr>
            </a:pPr>
            <a:r>
              <a:t>FINAL 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103120"/>
            <a:ext cx="10241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FFFFFF"/>
                </a:solidFill>
                <a:latin typeface="Aptos"/>
              </a:defRPr>
            </a:pPr>
            <a:r>
              <a:t>AI can help organize research and draft clear explanations. Reliable public guidance requires checking the claims against current official sources.</a:t>
            </a:r>
          </a:p>
          <a:p>
            <a:pPr>
              <a:spcBef>
                <a:spcPts val="2400"/>
              </a:spcBef>
              <a:defRPr sz="1900" b="1">
                <a:solidFill>
                  <a:srgbClr val="BEDCF0"/>
                </a:solidFill>
                <a:latin typeface="Aptos"/>
              </a:defRPr>
            </a:pPr>
            <a:r>
              <a:t>Research  →  Verify  →  Correct  →  Communicate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8920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  <a:latin typeface="Aptos"/>
              </a:defRPr>
            </a:pPr>
            <a:r>
              <a:t>Official references: moef.gov.in/rules-regulations-3  |  eprewaste.cpcb.gov.in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8"/>
                </a:solidFill>
                <a:latin typeface="Aptos"/>
              </a:defRPr>
            </a:pPr>
            <a:r>
              <a:t>CAPSTONE 23  •  AI RESPONSIBLE ELECTRONICS  • 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